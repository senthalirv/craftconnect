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WenQuanYi" panose="020B0604020202020204" charset="-128"/>
      <p:regular r:id="rId8"/>
    </p:embeddedFont>
    <p:embeddedFont>
      <p:font typeface="Arimo" panose="020B0604020202020204" charset="0"/>
      <p:regular r:id="rId9"/>
    </p:embeddedFont>
    <p:embeddedFont>
      <p:font typeface="Noto Sans" panose="020B0502040504020204" pitchFamily="34" charset="0"/>
      <p:regular r:id="rId10"/>
      <p:bold r:id="rId11"/>
      <p:italic r:id="rId12"/>
      <p:boldItalic r:id="rId13"/>
    </p:embeddedFont>
    <p:embeddedFont>
      <p:font typeface="Noto Sans Bold" panose="020B0802040504020204" pitchFamily="34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enthalirv/CraftConnect" TargetMode="External"/><Relationship Id="rId3" Type="http://schemas.openxmlformats.org/officeDocument/2006/relationships/image" Target="../media/image29.svg"/><Relationship Id="rId7" Type="http://schemas.openxmlformats.org/officeDocument/2006/relationships/hyperlink" Target="https://craft-connect-self.vercel.app/" TargetMode="External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inyurl.com/3fr2x5t7" TargetMode="Externa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1152525"/>
            <a:ext cx="11049000" cy="28575"/>
            <a:chOff x="0" y="0"/>
            <a:chExt cx="11049000" cy="28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9000" cy="28575"/>
            </a:xfrm>
            <a:custGeom>
              <a:avLst/>
              <a:gdLst/>
              <a:ahLst/>
              <a:cxnLst/>
              <a:rect l="l" t="t" r="r" b="b"/>
              <a:pathLst>
                <a:path w="11049000" h="28575">
                  <a:moveTo>
                    <a:pt x="0" y="0"/>
                  </a:moveTo>
                  <a:lnTo>
                    <a:pt x="11049000" y="0"/>
                  </a:lnTo>
                  <a:lnTo>
                    <a:pt x="110490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07997" y="1403347"/>
            <a:ext cx="11214097" cy="4860922"/>
          </a:xfrm>
          <a:custGeom>
            <a:avLst/>
            <a:gdLst/>
            <a:ahLst/>
            <a:cxnLst/>
            <a:rect l="l" t="t" r="r" b="b"/>
            <a:pathLst>
              <a:path w="11214097" h="4860922">
                <a:moveTo>
                  <a:pt x="0" y="0"/>
                </a:moveTo>
                <a:lnTo>
                  <a:pt x="11214097" y="0"/>
                </a:lnTo>
                <a:lnTo>
                  <a:pt x="11214097" y="4860922"/>
                </a:lnTo>
                <a:lnTo>
                  <a:pt x="0" y="4860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5967" y="355816"/>
            <a:ext cx="4374442" cy="61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51139" y="1963845"/>
            <a:ext cx="1363980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Visibility Barrier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3374" y="2260663"/>
            <a:ext cx="35366" cy="17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51139" y="4402245"/>
            <a:ext cx="1847317" cy="98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2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Fragmented Channels</a:t>
            </a:r>
          </a:p>
          <a:p>
            <a:pPr algn="l">
              <a:lnSpc>
                <a:spcPts val="1404"/>
              </a:lnSpc>
            </a:pPr>
            <a:r>
              <a:rPr lang="en-US" sz="10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Inquiries get lost across unorganized social DMs, leading to lost sales and communication drop-oﬀs.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20825" y="1963845"/>
            <a:ext cx="1504226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Discovery Friction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43535" y="2260663"/>
            <a:ext cx="35366" cy="17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20825" y="4392720"/>
            <a:ext cx="1728302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Limited Opportunity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20825" y="4699064"/>
            <a:ext cx="1555623" cy="69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050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1396"/>
              </a:lnSpc>
            </a:pPr>
            <a:r>
              <a:rPr lang="en-US" sz="1050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without a streamlined, trustworthy commission request framework.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23194" y="791442"/>
            <a:ext cx="2338568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/ Introduction &amp; Problem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4473" y="4607347"/>
            <a:ext cx="1309802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COMMISSION 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33510" y="4607347"/>
            <a:ext cx="1270083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CREATOR DISCOVERY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46389" y="1687392"/>
            <a:ext cx="765829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 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46389" y="4116267"/>
            <a:ext cx="765829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 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16075" y="1687392"/>
            <a:ext cx="765829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 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16075" y="4116267"/>
            <a:ext cx="765829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 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4948" y="2611317"/>
            <a:ext cx="1129798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PLATFORM VISION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698" y="2793054"/>
            <a:ext cx="4098246" cy="706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1428" y="3547929"/>
            <a:ext cx="50521" cy="264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9698" y="3547929"/>
            <a:ext cx="4692586" cy="25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A direct, commission-focused marketplace bridging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698" y="3824154"/>
            <a:ext cx="4743679" cy="54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The gap between independent artists, digital creators, and potential clients seeking custom work.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5967" y="6303359"/>
            <a:ext cx="2370931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0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PRESENTATION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59268" y="6303359"/>
            <a:ext cx="560651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4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51139" y="2260663"/>
            <a:ext cx="1673000" cy="17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Independent</a:t>
            </a:r>
            <a:r>
              <a:rPr lang="en-US" sz="10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creators</a:t>
            </a:r>
            <a:r>
              <a:rPr lang="en-US" sz="10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lack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51139" y="2451164"/>
            <a:ext cx="1873768" cy="51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0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dedicated spaces to highlight custom commission work alongside static portfolios.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0825" y="4689539"/>
            <a:ext cx="1813236" cy="179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Monetization remains tough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20825" y="2260663"/>
            <a:ext cx="1951425" cy="179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Clients face complex, cluttered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20825" y="2451164"/>
            <a:ext cx="1978228" cy="33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050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navigation when attempting to discover niche artisan talents.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1403347"/>
            <a:ext cx="3660772" cy="2308222"/>
          </a:xfrm>
          <a:custGeom>
            <a:avLst/>
            <a:gdLst/>
            <a:ahLst/>
            <a:cxnLst/>
            <a:rect l="l" t="t" r="r" b="b"/>
            <a:pathLst>
              <a:path w="3660772" h="2308222">
                <a:moveTo>
                  <a:pt x="0" y="0"/>
                </a:moveTo>
                <a:lnTo>
                  <a:pt x="3660772" y="0"/>
                </a:lnTo>
                <a:lnTo>
                  <a:pt x="3660772" y="2308222"/>
                </a:lnTo>
                <a:lnTo>
                  <a:pt x="0" y="2308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89422" y="1403347"/>
            <a:ext cx="3651247" cy="2308222"/>
          </a:xfrm>
          <a:custGeom>
            <a:avLst/>
            <a:gdLst/>
            <a:ahLst/>
            <a:cxnLst/>
            <a:rect l="l" t="t" r="r" b="b"/>
            <a:pathLst>
              <a:path w="3651247" h="2308222">
                <a:moveTo>
                  <a:pt x="0" y="0"/>
                </a:moveTo>
                <a:lnTo>
                  <a:pt x="3651247" y="0"/>
                </a:lnTo>
                <a:lnTo>
                  <a:pt x="3651247" y="2308222"/>
                </a:lnTo>
                <a:lnTo>
                  <a:pt x="0" y="2308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71500" y="1152525"/>
            <a:ext cx="11049000" cy="28575"/>
            <a:chOff x="0" y="0"/>
            <a:chExt cx="11049000" cy="28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49000" cy="28575"/>
            </a:xfrm>
            <a:custGeom>
              <a:avLst/>
              <a:gdLst/>
              <a:ahLst/>
              <a:cxnLst/>
              <a:rect l="l" t="t" r="r" b="b"/>
              <a:pathLst>
                <a:path w="11049000" h="28575">
                  <a:moveTo>
                    <a:pt x="0" y="0"/>
                  </a:moveTo>
                  <a:lnTo>
                    <a:pt x="11049000" y="0"/>
                  </a:lnTo>
                  <a:lnTo>
                    <a:pt x="110490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07997" y="3832222"/>
            <a:ext cx="11214097" cy="2432047"/>
          </a:xfrm>
          <a:custGeom>
            <a:avLst/>
            <a:gdLst/>
            <a:ahLst/>
            <a:cxnLst/>
            <a:rect l="l" t="t" r="r" b="b"/>
            <a:pathLst>
              <a:path w="11214097" h="2432047">
                <a:moveTo>
                  <a:pt x="0" y="0"/>
                </a:moveTo>
                <a:lnTo>
                  <a:pt x="11214097" y="0"/>
                </a:lnTo>
                <a:lnTo>
                  <a:pt x="11214097" y="2432047"/>
                </a:lnTo>
                <a:lnTo>
                  <a:pt x="0" y="2432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61322" y="1403347"/>
            <a:ext cx="3660772" cy="2308222"/>
          </a:xfrm>
          <a:custGeom>
            <a:avLst/>
            <a:gdLst/>
            <a:ahLst/>
            <a:cxnLst/>
            <a:rect l="l" t="t" r="r" b="b"/>
            <a:pathLst>
              <a:path w="3660772" h="2308222">
                <a:moveTo>
                  <a:pt x="0" y="0"/>
                </a:moveTo>
                <a:lnTo>
                  <a:pt x="3660772" y="0"/>
                </a:lnTo>
                <a:lnTo>
                  <a:pt x="3660772" y="2308222"/>
                </a:lnTo>
                <a:lnTo>
                  <a:pt x="0" y="2308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5967" y="355816"/>
            <a:ext cx="4088559" cy="61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PLATFORM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2031" y="791442"/>
            <a:ext cx="2350008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/ Architecture &amp;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600" y="4721514"/>
            <a:ext cx="2992698" cy="58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50"/>
              </a:lnSpc>
            </a:pPr>
            <a:r>
              <a:rPr lang="en-US" sz="10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High-resolution image carousels designed to highlight ﬁne craftsmanship, digital mastery, and custom work samples.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600" y="2292639"/>
            <a:ext cx="3103045" cy="58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0"/>
              </a:lnSpc>
            </a:pPr>
            <a:r>
              <a:rPr lang="en-US" sz="10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Customizable storefronts featuring bio details, specialized tags, and structured gallery displays for past work.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5967" y="6303359"/>
            <a:ext cx="2370931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0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38510" y="2292639"/>
            <a:ext cx="3108179" cy="58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0"/>
              </a:lnSpc>
            </a:pPr>
            <a:r>
              <a:rPr lang="en-US" sz="10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Intuitive search ﬁlters categorized by creative niche, budget brackets, turnaround times, and availability status.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38510" y="4721514"/>
            <a:ext cx="3126534" cy="58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0"/>
              </a:lnSpc>
            </a:pPr>
            <a:r>
              <a:rPr lang="en-US" sz="10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Quick links to creator portfolios, social proﬁles, and external veriﬁcation channels for transparent communication.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14582" y="4721514"/>
            <a:ext cx="2934319" cy="58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0"/>
              </a:lnSpc>
            </a:pPr>
            <a:r>
              <a:rPr lang="en-US" sz="10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Fluid user experience optimized for desktop browsers and mobile devices using clean modern layouts.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14582" y="2292639"/>
            <a:ext cx="3007643" cy="58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0"/>
              </a:lnSpc>
            </a:pPr>
            <a:r>
              <a:rPr lang="en-US" sz="10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Standardized inquiry forms capturing exact client requirements, project scope, and initial budget proposals.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59268" y="6303359"/>
            <a:ext cx="560651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4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7850" y="1687392"/>
            <a:ext cx="765334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/ PROFILE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850" y="4116267"/>
            <a:ext cx="963435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/ PORTFOLIO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3760" y="1687392"/>
            <a:ext cx="730415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/ SEARCH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3760" y="4116267"/>
            <a:ext cx="701516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/ SOCIAL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09832" y="1687392"/>
            <a:ext cx="743198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/ ORDERS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09832" y="4116267"/>
            <a:ext cx="892607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 / UI DESIGN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600" y="4399474"/>
            <a:ext cx="1307773" cy="24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Skill Showcase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2600" y="1969713"/>
            <a:ext cx="1413624" cy="249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Creator Proﬁles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38510" y="1970599"/>
            <a:ext cx="1572044" cy="24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Service Discovery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38510" y="4399474"/>
            <a:ext cx="1758553" cy="24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Direct Connect Hub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14582" y="4399474"/>
            <a:ext cx="1964827" cy="24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Responsive Prototype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14582" y="1970599"/>
            <a:ext cx="1966274" cy="24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Commission Inquiries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2193922"/>
            <a:ext cx="2736847" cy="1603372"/>
          </a:xfrm>
          <a:custGeom>
            <a:avLst/>
            <a:gdLst/>
            <a:ahLst/>
            <a:cxnLst/>
            <a:rect l="l" t="t" r="r" b="b"/>
            <a:pathLst>
              <a:path w="2736847" h="1603372">
                <a:moveTo>
                  <a:pt x="0" y="0"/>
                </a:moveTo>
                <a:lnTo>
                  <a:pt x="2736847" y="0"/>
                </a:lnTo>
                <a:lnTo>
                  <a:pt x="273684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0447" y="3822697"/>
            <a:ext cx="3317872" cy="1431922"/>
          </a:xfrm>
          <a:custGeom>
            <a:avLst/>
            <a:gdLst/>
            <a:ahLst/>
            <a:cxnLst/>
            <a:rect l="l" t="t" r="r" b="b"/>
            <a:pathLst>
              <a:path w="3317872" h="1431922">
                <a:moveTo>
                  <a:pt x="0" y="0"/>
                </a:moveTo>
                <a:lnTo>
                  <a:pt x="3317872" y="0"/>
                </a:lnTo>
                <a:lnTo>
                  <a:pt x="3317872" y="1431922"/>
                </a:lnTo>
                <a:lnTo>
                  <a:pt x="0" y="1431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36922" y="2193922"/>
            <a:ext cx="2736847" cy="1603372"/>
          </a:xfrm>
          <a:custGeom>
            <a:avLst/>
            <a:gdLst/>
            <a:ahLst/>
            <a:cxnLst/>
            <a:rect l="l" t="t" r="r" b="b"/>
            <a:pathLst>
              <a:path w="2736847" h="1603372">
                <a:moveTo>
                  <a:pt x="0" y="0"/>
                </a:moveTo>
                <a:lnTo>
                  <a:pt x="2736847" y="0"/>
                </a:lnTo>
                <a:lnTo>
                  <a:pt x="273684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60872" y="3822697"/>
            <a:ext cx="3308347" cy="1431922"/>
          </a:xfrm>
          <a:custGeom>
            <a:avLst/>
            <a:gdLst/>
            <a:ahLst/>
            <a:cxnLst/>
            <a:rect l="l" t="t" r="r" b="b"/>
            <a:pathLst>
              <a:path w="3308347" h="1431922">
                <a:moveTo>
                  <a:pt x="0" y="0"/>
                </a:moveTo>
                <a:lnTo>
                  <a:pt x="3308347" y="0"/>
                </a:lnTo>
                <a:lnTo>
                  <a:pt x="3308347" y="1431922"/>
                </a:lnTo>
                <a:lnTo>
                  <a:pt x="0" y="1431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56322" y="2193922"/>
            <a:ext cx="2736847" cy="1603372"/>
          </a:xfrm>
          <a:custGeom>
            <a:avLst/>
            <a:gdLst/>
            <a:ahLst/>
            <a:cxnLst/>
            <a:rect l="l" t="t" r="r" b="b"/>
            <a:pathLst>
              <a:path w="2736847" h="1603372">
                <a:moveTo>
                  <a:pt x="0" y="0"/>
                </a:moveTo>
                <a:lnTo>
                  <a:pt x="2736847" y="0"/>
                </a:lnTo>
                <a:lnTo>
                  <a:pt x="273684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71500" y="1152525"/>
            <a:ext cx="11049000" cy="28575"/>
            <a:chOff x="0" y="0"/>
            <a:chExt cx="11049000" cy="285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49000" cy="28575"/>
            </a:xfrm>
            <a:custGeom>
              <a:avLst/>
              <a:gdLst/>
              <a:ahLst/>
              <a:cxnLst/>
              <a:rect l="l" t="t" r="r" b="b"/>
              <a:pathLst>
                <a:path w="11049000" h="28575">
                  <a:moveTo>
                    <a:pt x="0" y="0"/>
                  </a:moveTo>
                  <a:lnTo>
                    <a:pt x="11049000" y="0"/>
                  </a:lnTo>
                  <a:lnTo>
                    <a:pt x="110490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71500" y="6181725"/>
            <a:ext cx="11049000" cy="19050"/>
            <a:chOff x="0" y="0"/>
            <a:chExt cx="11049000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49000" cy="19050"/>
            </a:xfrm>
            <a:custGeom>
              <a:avLst/>
              <a:gdLst/>
              <a:ahLst/>
              <a:cxnLst/>
              <a:rect l="l" t="t" r="r" b="b"/>
              <a:pathLst>
                <a:path w="11049000" h="19050">
                  <a:moveTo>
                    <a:pt x="0" y="0"/>
                  </a:moveTo>
                  <a:lnTo>
                    <a:pt x="11049000" y="0"/>
                  </a:lnTo>
                  <a:lnTo>
                    <a:pt x="11049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7851772" y="3822697"/>
            <a:ext cx="3317872" cy="1431922"/>
          </a:xfrm>
          <a:custGeom>
            <a:avLst/>
            <a:gdLst/>
            <a:ahLst/>
            <a:cxnLst/>
            <a:rect l="l" t="t" r="r" b="b"/>
            <a:pathLst>
              <a:path w="3317872" h="1431922">
                <a:moveTo>
                  <a:pt x="0" y="0"/>
                </a:moveTo>
                <a:lnTo>
                  <a:pt x="3317872" y="0"/>
                </a:lnTo>
                <a:lnTo>
                  <a:pt x="3317872" y="1431922"/>
                </a:lnTo>
                <a:lnTo>
                  <a:pt x="0" y="1431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985247" y="2193922"/>
            <a:ext cx="2736847" cy="1603372"/>
          </a:xfrm>
          <a:custGeom>
            <a:avLst/>
            <a:gdLst/>
            <a:ahLst/>
            <a:cxnLst/>
            <a:rect l="l" t="t" r="r" b="b"/>
            <a:pathLst>
              <a:path w="2736847" h="1603372">
                <a:moveTo>
                  <a:pt x="0" y="0"/>
                </a:moveTo>
                <a:lnTo>
                  <a:pt x="2736847" y="0"/>
                </a:lnTo>
                <a:lnTo>
                  <a:pt x="273684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75967" y="355816"/>
            <a:ext cx="6037717" cy="61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SOFTWARE DEVELOPMENT LIFE CYCLE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9045" y="791442"/>
            <a:ext cx="1924593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/ SDLC Methodology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77576" y="2279171"/>
            <a:ext cx="16291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02573" y="3907946"/>
            <a:ext cx="16291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5967" y="6303359"/>
            <a:ext cx="2370931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0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PRESENTATION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00548" y="2279171"/>
            <a:ext cx="16291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98531" y="3907946"/>
            <a:ext cx="16291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23519" y="2279171"/>
            <a:ext cx="16291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94641" y="3907946"/>
            <a:ext cx="16291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46644" y="2279171"/>
            <a:ext cx="16291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59268" y="6303359"/>
            <a:ext cx="560651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4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7417" y="2551062"/>
            <a:ext cx="900246" cy="22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5852" y="2828868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9420" y="4189362"/>
            <a:ext cx="2784929" cy="60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Testing</a:t>
            </a:r>
          </a:p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Cross-browser testing, mobile responsiveness checks, and link integrity veriﬁcation.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70389" y="2560587"/>
            <a:ext cx="2199503" cy="77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Requirements</a:t>
            </a:r>
          </a:p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Gathering creator/client needs, user stories, and specifying marketplace interface requirements.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95377" y="4179837"/>
            <a:ext cx="1168051" cy="22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Deployment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34377" y="4457643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93361" y="2560587"/>
            <a:ext cx="2049685" cy="9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Design</a:t>
            </a:r>
          </a:p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Architecting UI/UX wireframes, deﬁning system workﬂows, and establishing the soft neo-brutalist palette.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91335" y="4179837"/>
            <a:ext cx="1241850" cy="22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 Maintenance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13105" y="4457643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16333" y="2560587"/>
            <a:ext cx="2077926" cy="77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Development</a:t>
            </a:r>
          </a:p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Frontend implementation using modern HTML5, clean CSS custom variables, and responsive grids.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7417" y="2828868"/>
            <a:ext cx="2160146" cy="1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Deﬁning platform goals, identifying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7417" y="3000318"/>
            <a:ext cx="2048780" cy="34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target creator demographics, and establishing core project scopes.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95377" y="4457643"/>
            <a:ext cx="2318642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Production hostingon Vercel platform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95377" y="4629093"/>
            <a:ext cx="2478815" cy="34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connected to continuous deployment Git pipelines.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91335" y="4457643"/>
            <a:ext cx="2071306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Ongoinguser feedback collection,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91335" y="4629093"/>
            <a:ext cx="2814199" cy="34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performance monitoring, and iterative feature expansions.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2336797"/>
            <a:ext cx="3413122" cy="1127122"/>
          </a:xfrm>
          <a:custGeom>
            <a:avLst/>
            <a:gdLst/>
            <a:ahLst/>
            <a:cxnLst/>
            <a:rect l="l" t="t" r="r" b="b"/>
            <a:pathLst>
              <a:path w="3413122" h="1127122">
                <a:moveTo>
                  <a:pt x="0" y="0"/>
                </a:moveTo>
                <a:lnTo>
                  <a:pt x="3413122" y="0"/>
                </a:lnTo>
                <a:lnTo>
                  <a:pt x="34131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7997" y="3517897"/>
            <a:ext cx="3413122" cy="1127122"/>
          </a:xfrm>
          <a:custGeom>
            <a:avLst/>
            <a:gdLst/>
            <a:ahLst/>
            <a:cxnLst/>
            <a:rect l="l" t="t" r="r" b="b"/>
            <a:pathLst>
              <a:path w="3413122" h="1127122">
                <a:moveTo>
                  <a:pt x="0" y="0"/>
                </a:moveTo>
                <a:lnTo>
                  <a:pt x="3413122" y="0"/>
                </a:lnTo>
                <a:lnTo>
                  <a:pt x="34131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7997" y="4689472"/>
            <a:ext cx="3413122" cy="1136647"/>
          </a:xfrm>
          <a:custGeom>
            <a:avLst/>
            <a:gdLst/>
            <a:ahLst/>
            <a:cxnLst/>
            <a:rect l="l" t="t" r="r" b="b"/>
            <a:pathLst>
              <a:path w="3413122" h="1136647">
                <a:moveTo>
                  <a:pt x="0" y="0"/>
                </a:moveTo>
                <a:lnTo>
                  <a:pt x="3413122" y="0"/>
                </a:lnTo>
                <a:lnTo>
                  <a:pt x="3413122" y="1136647"/>
                </a:lnTo>
                <a:lnTo>
                  <a:pt x="0" y="1136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438275" y="1781175"/>
            <a:ext cx="1524000" cy="266700"/>
            <a:chOff x="0" y="0"/>
            <a:chExt cx="1524000" cy="266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0" cy="266700"/>
            </a:xfrm>
            <a:custGeom>
              <a:avLst/>
              <a:gdLst/>
              <a:ahLst/>
              <a:cxnLst/>
              <a:rect l="l" t="t" r="r" b="b"/>
              <a:pathLst>
                <a:path w="1524000" h="266700">
                  <a:moveTo>
                    <a:pt x="0" y="2286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1485900" y="0"/>
                  </a:lnTo>
                  <a:cubicBezTo>
                    <a:pt x="1490980" y="0"/>
                    <a:pt x="1495806" y="1016"/>
                    <a:pt x="1500505" y="2921"/>
                  </a:cubicBezTo>
                  <a:cubicBezTo>
                    <a:pt x="1505204" y="4826"/>
                    <a:pt x="1509268" y="7620"/>
                    <a:pt x="1512824" y="11176"/>
                  </a:cubicBezTo>
                  <a:cubicBezTo>
                    <a:pt x="1516380" y="14732"/>
                    <a:pt x="1519174" y="18923"/>
                    <a:pt x="1521079" y="23495"/>
                  </a:cubicBezTo>
                  <a:cubicBezTo>
                    <a:pt x="1522984" y="28067"/>
                    <a:pt x="1524000" y="33020"/>
                    <a:pt x="1524000" y="38100"/>
                  </a:cubicBezTo>
                  <a:lnTo>
                    <a:pt x="1524000" y="228600"/>
                  </a:lnTo>
                  <a:cubicBezTo>
                    <a:pt x="1524000" y="233680"/>
                    <a:pt x="1522984" y="238506"/>
                    <a:pt x="1521079" y="243205"/>
                  </a:cubicBezTo>
                  <a:cubicBezTo>
                    <a:pt x="1519174" y="247904"/>
                    <a:pt x="1516380" y="251968"/>
                    <a:pt x="1512824" y="255524"/>
                  </a:cubicBezTo>
                  <a:cubicBezTo>
                    <a:pt x="1509268" y="259080"/>
                    <a:pt x="1505077" y="261874"/>
                    <a:pt x="1500505" y="263779"/>
                  </a:cubicBezTo>
                  <a:cubicBezTo>
                    <a:pt x="1495933" y="265684"/>
                    <a:pt x="1490980" y="266700"/>
                    <a:pt x="1485900" y="266700"/>
                  </a:cubicBezTo>
                  <a:lnTo>
                    <a:pt x="38100" y="266700"/>
                  </a:lnTo>
                  <a:cubicBezTo>
                    <a:pt x="33020" y="266700"/>
                    <a:pt x="28194" y="265684"/>
                    <a:pt x="23495" y="263779"/>
                  </a:cubicBezTo>
                  <a:cubicBezTo>
                    <a:pt x="18796" y="261874"/>
                    <a:pt x="14732" y="259080"/>
                    <a:pt x="11176" y="255524"/>
                  </a:cubicBezTo>
                  <a:cubicBezTo>
                    <a:pt x="7620" y="251968"/>
                    <a:pt x="4826" y="247777"/>
                    <a:pt x="2921" y="243205"/>
                  </a:cubicBezTo>
                  <a:cubicBezTo>
                    <a:pt x="1016" y="238633"/>
                    <a:pt x="0" y="233680"/>
                    <a:pt x="0" y="2286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4079872" y="2298697"/>
            <a:ext cx="4089397" cy="2965447"/>
          </a:xfrm>
          <a:custGeom>
            <a:avLst/>
            <a:gdLst/>
            <a:ahLst/>
            <a:cxnLst/>
            <a:rect l="l" t="t" r="r" b="b"/>
            <a:pathLst>
              <a:path w="4089397" h="2965447">
                <a:moveTo>
                  <a:pt x="0" y="0"/>
                </a:moveTo>
                <a:lnTo>
                  <a:pt x="4089397" y="0"/>
                </a:lnTo>
                <a:lnTo>
                  <a:pt x="4089397" y="2965447"/>
                </a:lnTo>
                <a:lnTo>
                  <a:pt x="0" y="2965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71500" y="1152525"/>
            <a:ext cx="11049000" cy="28575"/>
            <a:chOff x="0" y="0"/>
            <a:chExt cx="11049000" cy="285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49000" cy="28575"/>
            </a:xfrm>
            <a:custGeom>
              <a:avLst/>
              <a:gdLst/>
              <a:ahLst/>
              <a:cxnLst/>
              <a:rect l="l" t="t" r="r" b="b"/>
              <a:pathLst>
                <a:path w="11049000" h="28575">
                  <a:moveTo>
                    <a:pt x="0" y="0"/>
                  </a:moveTo>
                  <a:lnTo>
                    <a:pt x="11049000" y="0"/>
                  </a:lnTo>
                  <a:lnTo>
                    <a:pt x="110490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71500" y="6181725"/>
            <a:ext cx="11049000" cy="19050"/>
            <a:chOff x="0" y="0"/>
            <a:chExt cx="11049000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49000" cy="19050"/>
            </a:xfrm>
            <a:custGeom>
              <a:avLst/>
              <a:gdLst/>
              <a:ahLst/>
              <a:cxnLst/>
              <a:rect l="l" t="t" r="r" b="b"/>
              <a:pathLst>
                <a:path w="11049000" h="19050">
                  <a:moveTo>
                    <a:pt x="0" y="0"/>
                  </a:moveTo>
                  <a:lnTo>
                    <a:pt x="11049000" y="0"/>
                  </a:lnTo>
                  <a:lnTo>
                    <a:pt x="11049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8308972" y="2336797"/>
            <a:ext cx="3413122" cy="1127122"/>
          </a:xfrm>
          <a:custGeom>
            <a:avLst/>
            <a:gdLst/>
            <a:ahLst/>
            <a:cxnLst/>
            <a:rect l="l" t="t" r="r" b="b"/>
            <a:pathLst>
              <a:path w="3413122" h="1127122">
                <a:moveTo>
                  <a:pt x="0" y="0"/>
                </a:moveTo>
                <a:lnTo>
                  <a:pt x="3413122" y="0"/>
                </a:lnTo>
                <a:lnTo>
                  <a:pt x="34131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08972" y="3517897"/>
            <a:ext cx="3413122" cy="1127122"/>
          </a:xfrm>
          <a:custGeom>
            <a:avLst/>
            <a:gdLst/>
            <a:ahLst/>
            <a:cxnLst/>
            <a:rect l="l" t="t" r="r" b="b"/>
            <a:pathLst>
              <a:path w="3413122" h="1127122">
                <a:moveTo>
                  <a:pt x="0" y="0"/>
                </a:moveTo>
                <a:lnTo>
                  <a:pt x="3413122" y="0"/>
                </a:lnTo>
                <a:lnTo>
                  <a:pt x="34131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308972" y="4689472"/>
            <a:ext cx="3413122" cy="1136647"/>
          </a:xfrm>
          <a:custGeom>
            <a:avLst/>
            <a:gdLst/>
            <a:ahLst/>
            <a:cxnLst/>
            <a:rect l="l" t="t" r="r" b="b"/>
            <a:pathLst>
              <a:path w="3413122" h="1136647">
                <a:moveTo>
                  <a:pt x="0" y="0"/>
                </a:moveTo>
                <a:lnTo>
                  <a:pt x="3413122" y="0"/>
                </a:lnTo>
                <a:lnTo>
                  <a:pt x="3413122" y="1136647"/>
                </a:lnTo>
                <a:lnTo>
                  <a:pt x="0" y="1136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296400" y="1781175"/>
            <a:ext cx="1390650" cy="266700"/>
            <a:chOff x="0" y="0"/>
            <a:chExt cx="1390650" cy="266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0650" cy="266700"/>
            </a:xfrm>
            <a:custGeom>
              <a:avLst/>
              <a:gdLst/>
              <a:ahLst/>
              <a:cxnLst/>
              <a:rect l="l" t="t" r="r" b="b"/>
              <a:pathLst>
                <a:path w="1390650" h="266700">
                  <a:moveTo>
                    <a:pt x="0" y="2286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1352550" y="0"/>
                  </a:lnTo>
                  <a:cubicBezTo>
                    <a:pt x="1357630" y="0"/>
                    <a:pt x="1362456" y="1016"/>
                    <a:pt x="1367155" y="2921"/>
                  </a:cubicBezTo>
                  <a:cubicBezTo>
                    <a:pt x="1371854" y="4826"/>
                    <a:pt x="1375918" y="7620"/>
                    <a:pt x="1379474" y="11176"/>
                  </a:cubicBezTo>
                  <a:cubicBezTo>
                    <a:pt x="1383030" y="14732"/>
                    <a:pt x="1385824" y="18923"/>
                    <a:pt x="1387729" y="23495"/>
                  </a:cubicBezTo>
                  <a:cubicBezTo>
                    <a:pt x="1389634" y="28067"/>
                    <a:pt x="1390650" y="33020"/>
                    <a:pt x="1390650" y="38100"/>
                  </a:cubicBezTo>
                  <a:lnTo>
                    <a:pt x="1390650" y="228600"/>
                  </a:lnTo>
                  <a:cubicBezTo>
                    <a:pt x="1390650" y="233680"/>
                    <a:pt x="1389634" y="238506"/>
                    <a:pt x="1387729" y="243205"/>
                  </a:cubicBezTo>
                  <a:cubicBezTo>
                    <a:pt x="1385824" y="247904"/>
                    <a:pt x="1383030" y="251968"/>
                    <a:pt x="1379474" y="255524"/>
                  </a:cubicBezTo>
                  <a:cubicBezTo>
                    <a:pt x="1375918" y="259080"/>
                    <a:pt x="1371727" y="261874"/>
                    <a:pt x="1367155" y="263779"/>
                  </a:cubicBezTo>
                  <a:cubicBezTo>
                    <a:pt x="1362583" y="265684"/>
                    <a:pt x="1357630" y="266700"/>
                    <a:pt x="1352550" y="266700"/>
                  </a:cubicBezTo>
                  <a:lnTo>
                    <a:pt x="38100" y="266700"/>
                  </a:lnTo>
                  <a:cubicBezTo>
                    <a:pt x="33020" y="266700"/>
                    <a:pt x="28194" y="265684"/>
                    <a:pt x="23495" y="263779"/>
                  </a:cubicBezTo>
                  <a:cubicBezTo>
                    <a:pt x="18796" y="261874"/>
                    <a:pt x="14732" y="259080"/>
                    <a:pt x="11176" y="255524"/>
                  </a:cubicBezTo>
                  <a:cubicBezTo>
                    <a:pt x="7620" y="251968"/>
                    <a:pt x="4826" y="247777"/>
                    <a:pt x="2921" y="243205"/>
                  </a:cubicBezTo>
                  <a:cubicBezTo>
                    <a:pt x="1016" y="238633"/>
                    <a:pt x="0" y="233680"/>
                    <a:pt x="0" y="228600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575967" y="355816"/>
            <a:ext cx="4610805" cy="61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WORKFLOW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600" y="2575455"/>
            <a:ext cx="2682888" cy="58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Setup Proﬁle</a:t>
            </a:r>
          </a:p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Creator registers, uploads portfolio artwork, and lists available service tiers.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2600" y="3756555"/>
            <a:ext cx="1439608" cy="20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Receive Request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0961" y="4000443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600" y="4937655"/>
            <a:ext cx="1812217" cy="20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Deliver Custom Work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46786" y="5181543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55088" y="3756555"/>
            <a:ext cx="1142238" cy="20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Submit Brief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80040" y="4000443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5088" y="2575455"/>
            <a:ext cx="1357998" cy="20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Discover Talent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96712" y="2819343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55088" y="4937655"/>
            <a:ext cx="2648836" cy="58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Review &amp; Approve</a:t>
            </a:r>
          </a:p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Receives completed commission and leaves review on creator's proﬁle.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14219" y="791442"/>
            <a:ext cx="1429807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/ User Journey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1089" y="1821971"/>
            <a:ext cx="1323137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CREATOR JOURNEY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5967" y="6303359"/>
            <a:ext cx="2370931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0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PRESENTATION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60694" y="3711864"/>
            <a:ext cx="3131668" cy="58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lang="en-US" sz="10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Central interaction engine facilitating seamless discovery, communication, and commission matching.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9805" y="1821971"/>
            <a:ext cx="118800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CLIENT JOURNEY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59268" y="6303359"/>
            <a:ext cx="560651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4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2600" y="5181543"/>
            <a:ext cx="2689231" cy="1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Creator coordinates milestones and submits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2600" y="5352993"/>
            <a:ext cx="1933146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ﬁnished assets directly to client.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2600" y="4000443"/>
            <a:ext cx="2784272" cy="1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Inquiries arrive with detailed briefs, timelines,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2600" y="4171893"/>
            <a:ext cx="1546746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and budget expectations.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18662" y="4543368"/>
            <a:ext cx="1896380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Direct Commission Matching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55088" y="2819343"/>
            <a:ext cx="2600020" cy="1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Client browses curated categories or ﬁlters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55088" y="2990793"/>
            <a:ext cx="1764030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creators by style and budget.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55088" y="4000443"/>
            <a:ext cx="2649484" cy="52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Fills out a standardized inquiry form detailing project scope and vision.</a:t>
            </a:r>
          </a:p>
          <a:p>
            <a:pPr algn="l">
              <a:lnSpc>
                <a:spcPts val="1399"/>
              </a:lnSpc>
            </a:pPr>
            <a:endParaRPr lang="en-US" sz="999" dirty="0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191725" y="2697042"/>
            <a:ext cx="1844383" cy="95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CENTRAL PLATFORM</a:t>
            </a:r>
          </a:p>
          <a:p>
            <a:pPr algn="ctr">
              <a:lnSpc>
                <a:spcPts val="2475"/>
              </a:lnSpc>
            </a:pPr>
            <a:r>
              <a:rPr lang="en-US" sz="1800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MARKETPLACE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13887" y="4555503"/>
            <a:ext cx="102699" cy="164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1466850"/>
            <a:ext cx="1695450" cy="247650"/>
            <a:chOff x="0" y="0"/>
            <a:chExt cx="1695450" cy="247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5450" cy="247650"/>
            </a:xfrm>
            <a:custGeom>
              <a:avLst/>
              <a:gdLst/>
              <a:ahLst/>
              <a:cxnLst/>
              <a:rect l="l" t="t" r="r" b="b"/>
              <a:pathLst>
                <a:path w="1695450" h="247650">
                  <a:moveTo>
                    <a:pt x="0" y="20955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1657350" y="0"/>
                  </a:lnTo>
                  <a:cubicBezTo>
                    <a:pt x="1662430" y="0"/>
                    <a:pt x="1667256" y="1016"/>
                    <a:pt x="1671955" y="2921"/>
                  </a:cubicBezTo>
                  <a:cubicBezTo>
                    <a:pt x="1676654" y="4826"/>
                    <a:pt x="1680718" y="7620"/>
                    <a:pt x="1684274" y="11176"/>
                  </a:cubicBezTo>
                  <a:cubicBezTo>
                    <a:pt x="1687830" y="14732"/>
                    <a:pt x="1690624" y="18923"/>
                    <a:pt x="1692529" y="23495"/>
                  </a:cubicBezTo>
                  <a:cubicBezTo>
                    <a:pt x="1694434" y="28067"/>
                    <a:pt x="1695450" y="33020"/>
                    <a:pt x="1695450" y="38100"/>
                  </a:cubicBezTo>
                  <a:lnTo>
                    <a:pt x="1695450" y="209550"/>
                  </a:lnTo>
                  <a:cubicBezTo>
                    <a:pt x="1695450" y="214630"/>
                    <a:pt x="1694434" y="219456"/>
                    <a:pt x="1692529" y="224155"/>
                  </a:cubicBezTo>
                  <a:cubicBezTo>
                    <a:pt x="1690624" y="228854"/>
                    <a:pt x="1687830" y="232918"/>
                    <a:pt x="1684274" y="236474"/>
                  </a:cubicBezTo>
                  <a:cubicBezTo>
                    <a:pt x="1680718" y="240030"/>
                    <a:pt x="1676527" y="242824"/>
                    <a:pt x="1671955" y="244729"/>
                  </a:cubicBezTo>
                  <a:cubicBezTo>
                    <a:pt x="1667383" y="246634"/>
                    <a:pt x="1662430" y="247650"/>
                    <a:pt x="1657350" y="247650"/>
                  </a:cubicBezTo>
                  <a:lnTo>
                    <a:pt x="38100" y="247650"/>
                  </a:lnTo>
                  <a:cubicBezTo>
                    <a:pt x="33020" y="247650"/>
                    <a:pt x="28194" y="246634"/>
                    <a:pt x="23495" y="244729"/>
                  </a:cubicBezTo>
                  <a:cubicBezTo>
                    <a:pt x="18796" y="242824"/>
                    <a:pt x="14732" y="240030"/>
                    <a:pt x="11176" y="236474"/>
                  </a:cubicBezTo>
                  <a:cubicBezTo>
                    <a:pt x="7620" y="232918"/>
                    <a:pt x="4826" y="228727"/>
                    <a:pt x="2921" y="224155"/>
                  </a:cubicBezTo>
                  <a:cubicBezTo>
                    <a:pt x="1016" y="219583"/>
                    <a:pt x="0" y="214630"/>
                    <a:pt x="0" y="2095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07997" y="1860547"/>
            <a:ext cx="2727322" cy="1127122"/>
          </a:xfrm>
          <a:custGeom>
            <a:avLst/>
            <a:gdLst/>
            <a:ahLst/>
            <a:cxnLst/>
            <a:rect l="l" t="t" r="r" b="b"/>
            <a:pathLst>
              <a:path w="2727322" h="1127122">
                <a:moveTo>
                  <a:pt x="0" y="0"/>
                </a:moveTo>
                <a:lnTo>
                  <a:pt x="2727322" y="0"/>
                </a:lnTo>
                <a:lnTo>
                  <a:pt x="27273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7997" y="3041647"/>
            <a:ext cx="2727322" cy="1127122"/>
          </a:xfrm>
          <a:custGeom>
            <a:avLst/>
            <a:gdLst/>
            <a:ahLst/>
            <a:cxnLst/>
            <a:rect l="l" t="t" r="r" b="b"/>
            <a:pathLst>
              <a:path w="2727322" h="1127122">
                <a:moveTo>
                  <a:pt x="0" y="0"/>
                </a:moveTo>
                <a:lnTo>
                  <a:pt x="2727322" y="0"/>
                </a:lnTo>
                <a:lnTo>
                  <a:pt x="27273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89297" y="1860547"/>
            <a:ext cx="2727322" cy="1127122"/>
          </a:xfrm>
          <a:custGeom>
            <a:avLst/>
            <a:gdLst/>
            <a:ahLst/>
            <a:cxnLst/>
            <a:rect l="l" t="t" r="r" b="b"/>
            <a:pathLst>
              <a:path w="2727322" h="1127122">
                <a:moveTo>
                  <a:pt x="0" y="0"/>
                </a:moveTo>
                <a:lnTo>
                  <a:pt x="2727322" y="0"/>
                </a:lnTo>
                <a:lnTo>
                  <a:pt x="27273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289297" y="3041647"/>
            <a:ext cx="2727322" cy="1127122"/>
          </a:xfrm>
          <a:custGeom>
            <a:avLst/>
            <a:gdLst/>
            <a:ahLst/>
            <a:cxnLst/>
            <a:rect l="l" t="t" r="r" b="b"/>
            <a:pathLst>
              <a:path w="2727322" h="1127122">
                <a:moveTo>
                  <a:pt x="0" y="0"/>
                </a:moveTo>
                <a:lnTo>
                  <a:pt x="2727322" y="0"/>
                </a:lnTo>
                <a:lnTo>
                  <a:pt x="2727322" y="1127122"/>
                </a:lnTo>
                <a:lnTo>
                  <a:pt x="0" y="11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71500" y="1152525"/>
            <a:ext cx="11049000" cy="28575"/>
            <a:chOff x="0" y="0"/>
            <a:chExt cx="11049000" cy="285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49000" cy="28575"/>
            </a:xfrm>
            <a:custGeom>
              <a:avLst/>
              <a:gdLst/>
              <a:ahLst/>
              <a:cxnLst/>
              <a:rect l="l" t="t" r="r" b="b"/>
              <a:pathLst>
                <a:path w="11049000" h="28575">
                  <a:moveTo>
                    <a:pt x="0" y="0"/>
                  </a:moveTo>
                  <a:lnTo>
                    <a:pt x="11049000" y="0"/>
                  </a:lnTo>
                  <a:lnTo>
                    <a:pt x="110490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71500" y="6181725"/>
            <a:ext cx="11049000" cy="19050"/>
            <a:chOff x="0" y="0"/>
            <a:chExt cx="11049000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49000" cy="19050"/>
            </a:xfrm>
            <a:custGeom>
              <a:avLst/>
              <a:gdLst/>
              <a:ahLst/>
              <a:cxnLst/>
              <a:rect l="l" t="t" r="r" b="b"/>
              <a:pathLst>
                <a:path w="11049000" h="19050">
                  <a:moveTo>
                    <a:pt x="0" y="0"/>
                  </a:moveTo>
                  <a:lnTo>
                    <a:pt x="11049000" y="0"/>
                  </a:lnTo>
                  <a:lnTo>
                    <a:pt x="11049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276975" y="1466850"/>
            <a:ext cx="1952625" cy="247650"/>
            <a:chOff x="0" y="0"/>
            <a:chExt cx="1952625" cy="2476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2625" cy="247650"/>
            </a:xfrm>
            <a:custGeom>
              <a:avLst/>
              <a:gdLst/>
              <a:ahLst/>
              <a:cxnLst/>
              <a:rect l="l" t="t" r="r" b="b"/>
              <a:pathLst>
                <a:path w="1952625" h="247650">
                  <a:moveTo>
                    <a:pt x="0" y="20955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1914525" y="0"/>
                  </a:lnTo>
                  <a:cubicBezTo>
                    <a:pt x="1919605" y="0"/>
                    <a:pt x="1924431" y="1016"/>
                    <a:pt x="1929130" y="2921"/>
                  </a:cubicBezTo>
                  <a:cubicBezTo>
                    <a:pt x="1933829" y="4826"/>
                    <a:pt x="1937893" y="7620"/>
                    <a:pt x="1941449" y="11176"/>
                  </a:cubicBezTo>
                  <a:cubicBezTo>
                    <a:pt x="1945005" y="14732"/>
                    <a:pt x="1947799" y="18923"/>
                    <a:pt x="1949704" y="23495"/>
                  </a:cubicBezTo>
                  <a:cubicBezTo>
                    <a:pt x="1951609" y="28067"/>
                    <a:pt x="1952625" y="33020"/>
                    <a:pt x="1952625" y="38100"/>
                  </a:cubicBezTo>
                  <a:lnTo>
                    <a:pt x="1952625" y="209550"/>
                  </a:lnTo>
                  <a:cubicBezTo>
                    <a:pt x="1952625" y="214630"/>
                    <a:pt x="1951609" y="219456"/>
                    <a:pt x="1949704" y="224155"/>
                  </a:cubicBezTo>
                  <a:cubicBezTo>
                    <a:pt x="1947799" y="228854"/>
                    <a:pt x="1945005" y="232918"/>
                    <a:pt x="1941449" y="236474"/>
                  </a:cubicBezTo>
                  <a:cubicBezTo>
                    <a:pt x="1937893" y="240030"/>
                    <a:pt x="1933702" y="242824"/>
                    <a:pt x="1929130" y="244729"/>
                  </a:cubicBezTo>
                  <a:cubicBezTo>
                    <a:pt x="1924558" y="246634"/>
                    <a:pt x="1919605" y="247650"/>
                    <a:pt x="1914525" y="247650"/>
                  </a:cubicBezTo>
                  <a:lnTo>
                    <a:pt x="38100" y="247650"/>
                  </a:lnTo>
                  <a:cubicBezTo>
                    <a:pt x="33020" y="247650"/>
                    <a:pt x="28194" y="246634"/>
                    <a:pt x="23495" y="244729"/>
                  </a:cubicBezTo>
                  <a:cubicBezTo>
                    <a:pt x="18796" y="242824"/>
                    <a:pt x="14732" y="240030"/>
                    <a:pt x="11176" y="236474"/>
                  </a:cubicBezTo>
                  <a:cubicBezTo>
                    <a:pt x="7620" y="232918"/>
                    <a:pt x="4826" y="228727"/>
                    <a:pt x="2921" y="224155"/>
                  </a:cubicBezTo>
                  <a:cubicBezTo>
                    <a:pt x="1016" y="219583"/>
                    <a:pt x="0" y="214630"/>
                    <a:pt x="0" y="20955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6213472" y="1860547"/>
            <a:ext cx="5508622" cy="917572"/>
          </a:xfrm>
          <a:custGeom>
            <a:avLst/>
            <a:gdLst/>
            <a:ahLst/>
            <a:cxnLst/>
            <a:rect l="l" t="t" r="r" b="b"/>
            <a:pathLst>
              <a:path w="5508622" h="917572">
                <a:moveTo>
                  <a:pt x="0" y="0"/>
                </a:moveTo>
                <a:lnTo>
                  <a:pt x="5508622" y="0"/>
                </a:lnTo>
                <a:lnTo>
                  <a:pt x="5508622" y="917572"/>
                </a:lnTo>
                <a:lnTo>
                  <a:pt x="0" y="917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213472" y="2832097"/>
            <a:ext cx="5508622" cy="917572"/>
          </a:xfrm>
          <a:custGeom>
            <a:avLst/>
            <a:gdLst/>
            <a:ahLst/>
            <a:cxnLst/>
            <a:rect l="l" t="t" r="r" b="b"/>
            <a:pathLst>
              <a:path w="5508622" h="917572">
                <a:moveTo>
                  <a:pt x="0" y="0"/>
                </a:moveTo>
                <a:lnTo>
                  <a:pt x="5508622" y="0"/>
                </a:lnTo>
                <a:lnTo>
                  <a:pt x="5508622" y="917572"/>
                </a:lnTo>
                <a:lnTo>
                  <a:pt x="0" y="917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213472" y="3803647"/>
            <a:ext cx="5508622" cy="917572"/>
          </a:xfrm>
          <a:custGeom>
            <a:avLst/>
            <a:gdLst/>
            <a:ahLst/>
            <a:cxnLst/>
            <a:rect l="l" t="t" r="r" b="b"/>
            <a:pathLst>
              <a:path w="5508622" h="917572">
                <a:moveTo>
                  <a:pt x="0" y="0"/>
                </a:moveTo>
                <a:lnTo>
                  <a:pt x="5508622" y="0"/>
                </a:lnTo>
                <a:lnTo>
                  <a:pt x="5508622" y="917572"/>
                </a:lnTo>
                <a:lnTo>
                  <a:pt x="0" y="917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213472" y="4775197"/>
            <a:ext cx="5508622" cy="917572"/>
          </a:xfrm>
          <a:custGeom>
            <a:avLst/>
            <a:gdLst/>
            <a:ahLst/>
            <a:cxnLst/>
            <a:rect l="l" t="t" r="r" b="b"/>
            <a:pathLst>
              <a:path w="5508622" h="917572">
                <a:moveTo>
                  <a:pt x="0" y="0"/>
                </a:moveTo>
                <a:lnTo>
                  <a:pt x="5508622" y="0"/>
                </a:lnTo>
                <a:lnTo>
                  <a:pt x="5508622" y="917572"/>
                </a:lnTo>
                <a:lnTo>
                  <a:pt x="0" y="917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75967" y="355816"/>
            <a:ext cx="4328636" cy="61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TECHNOLOGY &amp; ROADMAP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2600" y="3280305"/>
            <a:ext cx="1825028" cy="58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Vercel</a:t>
            </a:r>
          </a:p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High-performance production hosting and global delivery.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600" y="2108730"/>
            <a:ext cx="1948301" cy="385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dirty="0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HTML5</a:t>
            </a:r>
          </a:p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Semantic markup structured for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1783" y="2352618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40623" y="3280305"/>
            <a:ext cx="919324" cy="20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Git / GitHub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68429" y="3524193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40623" y="2108730"/>
            <a:ext cx="1029376" cy="20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CSS Variables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45506" y="2352618"/>
            <a:ext cx="3367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16395" y="791442"/>
            <a:ext cx="1937556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/ Tech Stack &amp; Scope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1217" y="1498121"/>
            <a:ext cx="1531744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CURRENT TECH STACK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5967" y="6303359"/>
            <a:ext cx="2370931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0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PRESENTATION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71187" y="1498121"/>
            <a:ext cx="1802578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 SCOPE ROADMAP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59268" y="6303359"/>
            <a:ext cx="560651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4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2600" y="2524068"/>
            <a:ext cx="1417130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accessibility and clarity.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540623" y="3524193"/>
            <a:ext cx="1861937" cy="1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Source code management and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540623" y="3695643"/>
            <a:ext cx="1463621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version control pipeline.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40623" y="2352618"/>
            <a:ext cx="2121170" cy="1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dirty="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Modular styling system supporting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40623" y="2524068"/>
            <a:ext cx="1305516" cy="17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neo-brutalist themes.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57810" y="2144592"/>
            <a:ext cx="495062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57810" y="3106617"/>
            <a:ext cx="495062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57810" y="4078167"/>
            <a:ext cx="495062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7810" y="5049717"/>
            <a:ext cx="495062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PHASE 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252840" y="5225872"/>
            <a:ext cx="3000394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Real-time messaging system for direct negotiations.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252840" y="2320747"/>
            <a:ext cx="3061011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OAuth / Email login for secure account management.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52840" y="4254322"/>
            <a:ext cx="3121133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Stripe/PayPal escrow integration for safe transactions.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52840" y="3282772"/>
            <a:ext cx="3453746" cy="16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9"/>
              </a:lnSpc>
            </a:pPr>
            <a:r>
              <a:rPr lang="en-US" sz="949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PostgreSQL/Supabase backend to manage dynamic listings.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52840" y="5010560"/>
            <a:ext cx="1331957" cy="20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49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In-App Messaging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52840" y="4039010"/>
            <a:ext cx="1353255" cy="20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49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Payment Gateway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52840" y="2105435"/>
            <a:ext cx="1506493" cy="20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49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User Authentication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252840" y="3067460"/>
            <a:ext cx="1597038" cy="20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49" b="1">
                <a:solidFill>
                  <a:srgbClr val="1E293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Database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97" y="2355847"/>
            <a:ext cx="5013322" cy="2841622"/>
          </a:xfrm>
          <a:custGeom>
            <a:avLst/>
            <a:gdLst/>
            <a:ahLst/>
            <a:cxnLst/>
            <a:rect l="l" t="t" r="r" b="b"/>
            <a:pathLst>
              <a:path w="5013322" h="2841622">
                <a:moveTo>
                  <a:pt x="0" y="0"/>
                </a:moveTo>
                <a:lnTo>
                  <a:pt x="5013322" y="0"/>
                </a:lnTo>
                <a:lnTo>
                  <a:pt x="5013322" y="2841622"/>
                </a:lnTo>
                <a:lnTo>
                  <a:pt x="0" y="2841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1500" y="1152525"/>
            <a:ext cx="11049000" cy="28575"/>
            <a:chOff x="0" y="0"/>
            <a:chExt cx="11049000" cy="285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49000" cy="28575"/>
            </a:xfrm>
            <a:custGeom>
              <a:avLst/>
              <a:gdLst/>
              <a:ahLst/>
              <a:cxnLst/>
              <a:rect l="l" t="t" r="r" b="b"/>
              <a:pathLst>
                <a:path w="11049000" h="28575">
                  <a:moveTo>
                    <a:pt x="0" y="0"/>
                  </a:moveTo>
                  <a:lnTo>
                    <a:pt x="11049000" y="0"/>
                  </a:lnTo>
                  <a:lnTo>
                    <a:pt x="110490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71500" y="6181725"/>
            <a:ext cx="11049000" cy="19050"/>
            <a:chOff x="0" y="0"/>
            <a:chExt cx="1104900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49000" cy="19050"/>
            </a:xfrm>
            <a:custGeom>
              <a:avLst/>
              <a:gdLst/>
              <a:ahLst/>
              <a:cxnLst/>
              <a:rect l="l" t="t" r="r" b="b"/>
              <a:pathLst>
                <a:path w="11049000" h="19050">
                  <a:moveTo>
                    <a:pt x="0" y="0"/>
                  </a:moveTo>
                  <a:lnTo>
                    <a:pt x="11049000" y="0"/>
                  </a:lnTo>
                  <a:lnTo>
                    <a:pt x="11049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5765797" y="2165347"/>
            <a:ext cx="5956297" cy="1012822"/>
          </a:xfrm>
          <a:custGeom>
            <a:avLst/>
            <a:gdLst/>
            <a:ahLst/>
            <a:cxnLst/>
            <a:rect l="l" t="t" r="r" b="b"/>
            <a:pathLst>
              <a:path w="5956297" h="1012822">
                <a:moveTo>
                  <a:pt x="0" y="0"/>
                </a:moveTo>
                <a:lnTo>
                  <a:pt x="5956297" y="0"/>
                </a:lnTo>
                <a:lnTo>
                  <a:pt x="5956297" y="1012822"/>
                </a:lnTo>
                <a:lnTo>
                  <a:pt x="0" y="1012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65797" y="3260722"/>
            <a:ext cx="5956297" cy="1022347"/>
          </a:xfrm>
          <a:custGeom>
            <a:avLst/>
            <a:gdLst/>
            <a:ahLst/>
            <a:cxnLst/>
            <a:rect l="l" t="t" r="r" b="b"/>
            <a:pathLst>
              <a:path w="5956297" h="1022347">
                <a:moveTo>
                  <a:pt x="0" y="0"/>
                </a:moveTo>
                <a:lnTo>
                  <a:pt x="5956297" y="0"/>
                </a:lnTo>
                <a:lnTo>
                  <a:pt x="5956297" y="1022347"/>
                </a:lnTo>
                <a:lnTo>
                  <a:pt x="0" y="1022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65797" y="4365622"/>
            <a:ext cx="5956297" cy="1012822"/>
          </a:xfrm>
          <a:custGeom>
            <a:avLst/>
            <a:gdLst/>
            <a:ahLst/>
            <a:cxnLst/>
            <a:rect l="l" t="t" r="r" b="b"/>
            <a:pathLst>
              <a:path w="5956297" h="1012822">
                <a:moveTo>
                  <a:pt x="0" y="0"/>
                </a:moveTo>
                <a:lnTo>
                  <a:pt x="5956297" y="0"/>
                </a:lnTo>
                <a:lnTo>
                  <a:pt x="5956297" y="1012822"/>
                </a:lnTo>
                <a:lnTo>
                  <a:pt x="0" y="1012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5967" y="355816"/>
            <a:ext cx="3580819" cy="61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CONCLUSION &amp; LINKS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4924" y="791442"/>
            <a:ext cx="1041425" cy="2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 / Connect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5967" y="6303359"/>
            <a:ext cx="2370931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0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 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16381" y="4892964"/>
            <a:ext cx="1969294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2563EB"/>
                </a:solidFill>
                <a:latin typeface="Noto Sans Bold"/>
                <a:ea typeface="Noto Sans Bold"/>
                <a:cs typeface="Noto Sans Bold"/>
                <a:sym typeface="Noto Sans Bold"/>
                <a:hlinkClick r:id="rId6" tooltip="https://tinyurl.com/3fr2x5t7"/>
              </a:rPr>
              <a:t>https://tinyurl.com/3fr2x5t7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16381" y="2683164"/>
            <a:ext cx="2576017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2563EB"/>
                </a:solidFill>
                <a:latin typeface="Noto Sans Bold"/>
                <a:ea typeface="Noto Sans Bold"/>
                <a:cs typeface="Noto Sans Bold"/>
                <a:sym typeface="Noto Sans Bold"/>
                <a:hlinkClick r:id="rId7" tooltip="https://craft-connect-self.vercel.app/"/>
              </a:rPr>
              <a:t>https://craft-connect-self.vercel.app/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16381" y="3788064"/>
            <a:ext cx="3073797" cy="18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2563EB"/>
                </a:solidFill>
                <a:latin typeface="Noto Sans Bold"/>
                <a:ea typeface="Noto Sans Bold"/>
                <a:cs typeface="Noto Sans Bold"/>
                <a:sym typeface="Noto Sans Bold"/>
                <a:hlinkClick r:id="rId8" tooltip="https://github.com/senthalirv/CraftConnect"/>
              </a:rPr>
              <a:t>https://github.com/senthalirv/CraftConnect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59268" y="6303359"/>
            <a:ext cx="560651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54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09812" y="2888771"/>
            <a:ext cx="1381096" cy="1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COMPLETE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9776" y="3368440"/>
            <a:ext cx="3380299" cy="1180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8"/>
              </a:lnSpc>
            </a:pPr>
            <a:r>
              <a:rPr lang="en-US" sz="4200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 YOU!</a:t>
            </a:r>
          </a:p>
          <a:p>
            <a:pPr algn="ctr">
              <a:lnSpc>
                <a:spcPts val="1875"/>
              </a:lnSpc>
            </a:pPr>
            <a:r>
              <a:rPr lang="en-US" sz="13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CraftConnect</a:t>
            </a:r>
            <a:r>
              <a:rPr lang="en-US" sz="13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13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—</a:t>
            </a:r>
            <a:r>
              <a:rPr lang="en-US" sz="13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13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Elevating</a:t>
            </a:r>
            <a:r>
              <a:rPr lang="en-US" sz="13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13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Creator Commissions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68248" y="4179513"/>
            <a:ext cx="47139" cy="24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47556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16381" y="2398662"/>
            <a:ext cx="1660474" cy="22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  <a:hlinkClick r:id="rId7" tooltip="https://craft-connect-self.vercel.app/"/>
              </a:rPr>
              <a:t>LIVE DEMO WEBSITE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16381" y="3503562"/>
            <a:ext cx="1719863" cy="22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  <a:hlinkClick r:id="rId8" tooltip="https://github.com/senthalirv/CraftConnect"/>
              </a:rPr>
              <a:t>GITHUB REPOSITORY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16381" y="4608462"/>
            <a:ext cx="2438676" cy="22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1">
                <a:solidFill>
                  <a:srgbClr val="0F172A"/>
                </a:solidFill>
                <a:latin typeface="Noto Sans Bold"/>
                <a:ea typeface="Noto Sans Bold"/>
                <a:cs typeface="Noto Sans Bold"/>
                <a:sym typeface="Noto Sans Bold"/>
                <a:hlinkClick r:id="rId6" tooltip="https://tinyurl.com/3fr2x5t7"/>
              </a:rPr>
              <a:t>SYSTEM DIAGRAMS (DRAW.IO)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44279" y="2409987"/>
            <a:ext cx="161858" cy="22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>
                <a:solidFill>
                  <a:srgbClr val="0F172A"/>
                </a:solidFill>
                <a:latin typeface="WenQuanYi"/>
                <a:ea typeface="WenQuanYi"/>
                <a:cs typeface="WenQuanYi"/>
                <a:sym typeface="WenQuanYi"/>
                <a:hlinkClick r:id="rId7" tooltip="https://craft-connect-self.vercel.app/"/>
              </a:rPr>
              <a:t>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02506" y="3514887"/>
            <a:ext cx="161858" cy="22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>
                <a:solidFill>
                  <a:srgbClr val="0F172A"/>
                </a:solidFill>
                <a:latin typeface="WenQuanYi"/>
                <a:ea typeface="WenQuanYi"/>
                <a:cs typeface="WenQuanYi"/>
                <a:sym typeface="WenQuanYi"/>
                <a:hlinkClick r:id="rId8" tooltip="https://github.com/senthalirv/CraftConnect"/>
              </a:rPr>
              <a:t>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07232" y="4619787"/>
            <a:ext cx="161858" cy="22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>
                <a:solidFill>
                  <a:srgbClr val="0F172A"/>
                </a:solidFill>
                <a:latin typeface="WenQuanYi"/>
                <a:ea typeface="WenQuanYi"/>
                <a:cs typeface="WenQuanYi"/>
                <a:sym typeface="WenQuanYi"/>
                <a:hlinkClick r:id="rId6" tooltip="https://tinyurl.com/3fr2x5t7"/>
              </a:rPr>
              <a:t>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705</Words>
  <Application>Microsoft Office PowerPoint</Application>
  <PresentationFormat>Widescreen</PresentationFormat>
  <Paragraphs>161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Noto Sans Bold</vt:lpstr>
      <vt:lpstr>Arimo</vt:lpstr>
      <vt:lpstr>WenQuanYi</vt:lpstr>
      <vt:lpstr>Noto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CRAFTCONNECT PRESENTATION</dc:title>
  <cp:lastModifiedBy>Senthalir V</cp:lastModifiedBy>
  <cp:revision>2</cp:revision>
  <dcterms:created xsi:type="dcterms:W3CDTF">2006-08-16T00:00:00Z</dcterms:created>
  <dcterms:modified xsi:type="dcterms:W3CDTF">2026-10-27T14:47:16Z</dcterms:modified>
  <dc:identifier>DAHZNlK1u2M</dc:identifier>
</cp:coreProperties>
</file>